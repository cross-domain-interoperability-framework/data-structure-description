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61" r:id="rId4"/>
    <p:sldId id="269" r:id="rId5"/>
    <p:sldId id="270" r:id="rId6"/>
    <p:sldId id="272" r:id="rId7"/>
    <p:sldId id="273" r:id="rId8"/>
    <p:sldId id="264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8" autoAdjust="0"/>
    <p:restoredTop sz="94660"/>
  </p:normalViewPr>
  <p:slideViewPr>
    <p:cSldViewPr snapToGrid="0">
      <p:cViewPr varScale="1">
        <p:scale>
          <a:sx n="39" d="100"/>
          <a:sy n="39" d="100"/>
        </p:scale>
        <p:origin x="40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Richard" userId="944a82e2ddcde9eb" providerId="LiveId" clId="{AB78EA51-4DAA-45DE-80C8-4A89365C0722}"/>
    <pc:docChg chg="modSld">
      <pc:chgData name="Stephen Richard" userId="944a82e2ddcde9eb" providerId="LiveId" clId="{AB78EA51-4DAA-45DE-80C8-4A89365C0722}" dt="2025-11-17T07:11:30.817" v="69" actId="6549"/>
      <pc:docMkLst>
        <pc:docMk/>
      </pc:docMkLst>
      <pc:sldChg chg="modSp mod">
        <pc:chgData name="Stephen Richard" userId="944a82e2ddcde9eb" providerId="LiveId" clId="{AB78EA51-4DAA-45DE-80C8-4A89365C0722}" dt="2025-11-17T07:11:30.817" v="69" actId="6549"/>
        <pc:sldMkLst>
          <pc:docMk/>
          <pc:sldMk cId="3580986198" sldId="273"/>
        </pc:sldMkLst>
        <pc:spChg chg="mod">
          <ac:chgData name="Stephen Richard" userId="944a82e2ddcde9eb" providerId="LiveId" clId="{AB78EA51-4DAA-45DE-80C8-4A89365C0722}" dt="2025-11-17T07:11:30.817" v="69" actId="6549"/>
          <ac:spMkLst>
            <pc:docMk/>
            <pc:sldMk cId="3580986198" sldId="273"/>
            <ac:spMk id="11" creationId="{4607809C-04E0-E3CD-822A-01D9A1A402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November 17,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78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November 17,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2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78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7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Monday, November 17, 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4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33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71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98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07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Monday, November 17,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8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Monday, November 17,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04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20000"/>
        </a:lnSpc>
        <a:spcBef>
          <a:spcPts val="1000"/>
        </a:spcBef>
        <a:buFont typeface="Calibri Light" panose="020F0302020204030204" pitchFamily="34" charset="0"/>
        <a:buChar char="→"/>
        <a:defRPr sz="22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20000"/>
        </a:lnSpc>
        <a:spcBef>
          <a:spcPts val="500"/>
        </a:spcBef>
        <a:buFont typeface="Calibri Light" panose="020F0302020204030204" pitchFamily="34" charset="0"/>
        <a:buChar char="→"/>
        <a:defRPr sz="22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20000"/>
        </a:lnSpc>
        <a:spcBef>
          <a:spcPts val="500"/>
        </a:spcBef>
        <a:buFont typeface="Calibri Light" panose="020F0302020204030204" pitchFamily="34" charset="0"/>
        <a:buChar char="→"/>
        <a:defRPr sz="22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20000"/>
        </a:lnSpc>
        <a:spcBef>
          <a:spcPts val="500"/>
        </a:spcBef>
        <a:buFont typeface="Calibri Light" panose="020F0302020204030204" pitchFamily="34" charset="0"/>
        <a:buChar char="→"/>
        <a:defRPr sz="22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20000"/>
        </a:lnSpc>
        <a:spcBef>
          <a:spcPts val="500"/>
        </a:spcBef>
        <a:buFont typeface="Calibri Light" panose="020F0302020204030204" pitchFamily="34" charset="0"/>
        <a:buChar char="→"/>
        <a:defRPr sz="22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ross-Domain-Interoperability-Framework/Discovery/issues" TargetMode="External"/><Relationship Id="rId2" Type="http://schemas.openxmlformats.org/officeDocument/2006/relationships/hyperlink" Target="https://cross-domain-interoperability-framework.github.io/cdifboo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DE0A8-8C42-C821-B0B3-C56BF2B86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62400"/>
            <a:ext cx="11293200" cy="10008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CDIF: </a:t>
            </a:r>
            <a:r>
              <a:rPr lang="en-US" sz="4900" dirty="0"/>
              <a:t>Cross Domain Interoperability Framework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8E3D4-5D60-B995-F455-23E493E41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5" y="1652400"/>
            <a:ext cx="11293200" cy="984885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6400" dirty="0"/>
              <a:t>X-Ray Absorption Data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B17B2A2-A5EB-C968-5A68-FD3A44EF8F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99" b="24844"/>
          <a:stretch/>
        </p:blipFill>
        <p:spPr>
          <a:xfrm>
            <a:off x="20" y="2959198"/>
            <a:ext cx="12191980" cy="389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56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72416-B5AD-A719-73B5-1260E59A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CDIF Metadata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32332-4EF8-062A-2CD9-BD3E0611D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465986"/>
            <a:ext cx="11293200" cy="482346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Provide documentation </a:t>
            </a:r>
            <a:r>
              <a:rPr lang="en-US" sz="2800" dirty="0">
                <a:solidFill>
                  <a:srgbClr val="FFFF00"/>
                </a:solidFill>
              </a:rPr>
              <a:t>(a.k.a. metadata) for resources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FFFF00"/>
                </a:solidFill>
              </a:rPr>
              <a:t>file-based data sets, </a:t>
            </a:r>
          </a:p>
          <a:p>
            <a:r>
              <a:rPr lang="en-US" sz="2800" dirty="0">
                <a:solidFill>
                  <a:srgbClr val="FFFF00"/>
                </a:solidFill>
              </a:rPr>
              <a:t>Information to </a:t>
            </a:r>
            <a:r>
              <a:rPr lang="en-US" sz="2800" b="1" dirty="0">
                <a:solidFill>
                  <a:srgbClr val="FFFF00"/>
                </a:solidFill>
              </a:rPr>
              <a:t>support search applications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rgbClr val="FFFF00"/>
                </a:solidFill>
              </a:rPr>
              <a:t>Titles, abstracts, authors, keywords, spatial and temporal coverage, described feature, publication dates, licensing… </a:t>
            </a:r>
          </a:p>
          <a:p>
            <a:r>
              <a:rPr lang="en-US" sz="2800" dirty="0">
                <a:solidFill>
                  <a:srgbClr val="FFFF00"/>
                </a:solidFill>
              </a:rPr>
              <a:t>Information to </a:t>
            </a:r>
            <a:r>
              <a:rPr lang="en-US" sz="2800" b="1" dirty="0">
                <a:solidFill>
                  <a:srgbClr val="FFFF00"/>
                </a:solidFill>
              </a:rPr>
              <a:t>support initial assessment </a:t>
            </a:r>
            <a:r>
              <a:rPr lang="en-US" sz="2800" dirty="0">
                <a:solidFill>
                  <a:srgbClr val="FFFF00"/>
                </a:solidFill>
              </a:rPr>
              <a:t>of a resource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2800" dirty="0">
                <a:solidFill>
                  <a:srgbClr val="FFFF00"/>
                </a:solidFill>
              </a:rPr>
              <a:t>variables reported, quality, provenance.</a:t>
            </a:r>
          </a:p>
          <a:p>
            <a:r>
              <a:rPr lang="en-US" sz="2800" dirty="0">
                <a:solidFill>
                  <a:srgbClr val="FFFF00"/>
                </a:solidFill>
              </a:rPr>
              <a:t>Information to support </a:t>
            </a:r>
            <a:r>
              <a:rPr lang="en-US" sz="2800" b="1" dirty="0">
                <a:solidFill>
                  <a:srgbClr val="FFFF00"/>
                </a:solidFill>
              </a:rPr>
              <a:t>usage of </a:t>
            </a:r>
            <a:r>
              <a:rPr lang="en-US" sz="2800" dirty="0">
                <a:solidFill>
                  <a:srgbClr val="FFFF00"/>
                </a:solidFill>
              </a:rPr>
              <a:t>a resource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2800" dirty="0">
                <a:solidFill>
                  <a:srgbClr val="FFFF00"/>
                </a:solidFill>
              </a:rPr>
              <a:t>File format, data structure, access protocol.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endParaRPr lang="en-US" sz="2800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EF745-082A-9B7E-B722-1519DE5D0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027" y="1"/>
            <a:ext cx="2853974" cy="252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40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5A978-6889-569A-41E9-85592B2B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/>
              <a:t>Serialize using Schema.org, JSON-LD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F4241-ADD3-5BE5-0E68-924C5AD8D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467" y="1303400"/>
            <a:ext cx="6122963" cy="3667185"/>
          </a:xfrm>
        </p:spPr>
        <p:txBody>
          <a:bodyPr>
            <a:noAutofit/>
          </a:bodyPr>
          <a:lstStyle/>
          <a:p>
            <a:pPr marL="1944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{"@context": "https://schema.org",</a:t>
            </a:r>
          </a:p>
          <a:p>
            <a:pPr marL="1944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"@id": "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ex:URIforNode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1944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"@type": "Dataset",</a:t>
            </a:r>
          </a:p>
          <a:p>
            <a:pPr marL="1944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dateModified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"2017-05-23",</a:t>
            </a:r>
          </a:p>
          <a:p>
            <a:pPr marL="1944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"identifier": "</a:t>
            </a:r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ex:URIforDescribedResource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1944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"name": "unique title for the resource",</a:t>
            </a:r>
          </a:p>
          <a:p>
            <a:pPr marL="1944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"description": "Description of the resource"  </a:t>
            </a:r>
          </a:p>
          <a:p>
            <a:pPr marL="1944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lots more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}</a:t>
            </a:r>
          </a:p>
          <a:p>
            <a:pPr marL="1944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944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944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endParaRPr lang="en-US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944" indent="0">
              <a:spcBef>
                <a:spcPts val="0"/>
              </a:spcBef>
              <a:spcAft>
                <a:spcPts val="200"/>
              </a:spcAft>
              <a:buNone/>
            </a:pP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09803F-82C7-60F5-5B74-7F4211B3FF20}"/>
              </a:ext>
            </a:extLst>
          </p:cNvPr>
          <p:cNvSpPr txBox="1">
            <a:spLocks/>
          </p:cNvSpPr>
          <p:nvPr/>
        </p:nvSpPr>
        <p:spPr>
          <a:xfrm>
            <a:off x="6924431" y="1529999"/>
            <a:ext cx="4681415" cy="3440585"/>
          </a:xfrm>
          <a:prstGeom prst="rect">
            <a:avLst/>
          </a:prstGeom>
        </p:spPr>
        <p:txBody>
          <a:bodyPr vert="horz" wrap="square" lIns="0" tIns="0" rIns="91440" bIns="0" rtlCol="0">
            <a:normAutofit/>
          </a:bodyPr>
          <a:lstStyle>
            <a:lvl1pPr marL="450000" indent="-448056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00000" indent="-448056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50000" indent="-448056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00000" indent="-448056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250000" indent="-448056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Based on JSON, RDF logic</a:t>
            </a:r>
          </a:p>
          <a:p>
            <a:r>
              <a:rPr lang="en-US" sz="2400" dirty="0">
                <a:solidFill>
                  <a:schemeClr val="tx1"/>
                </a:solidFill>
              </a:rPr>
              <a:t>Developer-friendly, lots of tools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Harvested by various metadata aggregators </a:t>
            </a:r>
            <a:r>
              <a:rPr lang="en-US" sz="1600" dirty="0">
                <a:solidFill>
                  <a:schemeClr val="tx1"/>
                </a:solidFill>
              </a:rPr>
              <a:t>(Google Dataset Search, Ocean Info Hub, EarthCube </a:t>
            </a:r>
            <a:r>
              <a:rPr lang="en-US" sz="1600" dirty="0" err="1">
                <a:solidFill>
                  <a:schemeClr val="tx1"/>
                </a:solidFill>
              </a:rPr>
              <a:t>GeoCODEs</a:t>
            </a:r>
            <a:r>
              <a:rPr lang="en-US" sz="1600" dirty="0">
                <a:solidFill>
                  <a:schemeClr val="tx1"/>
                </a:solidFill>
              </a:rPr>
              <a:t>…)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Embed in landing pages for data, integrates into web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3648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FA15-9498-9596-55D0-3C2CDC75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X-Ray Absorption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D5D84-01FB-2203-19C6-AE8203A4F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087" y="1172492"/>
            <a:ext cx="11293200" cy="378301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How to create metadata records describing data in dramatically different formats to enable frictionless discovery and integration of data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XDI- spectra in columns in a text file, with metadata in comments in a header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NEXUS – spectra as a set of arrays in a binary file with embedded metadata.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4E8269-DE1C-57AF-2401-AC673EABB00D}"/>
              </a:ext>
            </a:extLst>
          </p:cNvPr>
          <p:cNvSpPr txBox="1">
            <a:spLocks/>
          </p:cNvSpPr>
          <p:nvPr/>
        </p:nvSpPr>
        <p:spPr>
          <a:xfrm>
            <a:off x="6932246" y="4001662"/>
            <a:ext cx="4988763" cy="1406585"/>
          </a:xfrm>
          <a:prstGeom prst="rect">
            <a:avLst/>
          </a:prstGeom>
        </p:spPr>
        <p:txBody>
          <a:bodyPr vert="horz" wrap="square" lIns="0" tIns="0" rIns="91440" bIns="0" rtlCol="0">
            <a:normAutofit/>
          </a:bodyPr>
          <a:lstStyle>
            <a:lvl1pPr marL="450000" indent="-448056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00000" indent="-448056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50000" indent="-448056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00000" indent="-448056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250000" indent="-448056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Calibri Light" panose="020F0302020204030204" pitchFamily="34" charset="0"/>
              <a:buChar char="→"/>
              <a:defRPr sz="2200" kern="1200">
                <a:solidFill>
                  <a:schemeClr val="tx2">
                    <a:alpha val="5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FF00"/>
                </a:solidFill>
              </a:rPr>
              <a:t>The information represented in these formats is closely aligned, but arranged differently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C9054-264C-51ED-1343-61545B47D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651" y="3615696"/>
            <a:ext cx="3790873" cy="285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471134-44D5-EFE5-78D4-A47A1741167A}"/>
              </a:ext>
            </a:extLst>
          </p:cNvPr>
          <p:cNvSpPr txBox="1"/>
          <p:nvPr/>
        </p:nvSpPr>
        <p:spPr>
          <a:xfrm>
            <a:off x="3356349" y="6469200"/>
            <a:ext cx="3130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Matthew Newville, 2023</a:t>
            </a:r>
          </a:p>
        </p:txBody>
      </p:sp>
    </p:spTree>
    <p:extLst>
      <p:ext uri="{BB962C8B-B14F-4D97-AF65-F5344CB8AC3E}">
        <p14:creationId xmlns:p14="http://schemas.microsoft.com/office/powerpoint/2010/main" val="62246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325B-E94B-8DD8-BA4B-7F741CCE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58812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Proposed solution: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7D8A109-5032-5F91-C86E-692DD6122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538" y="1537493"/>
            <a:ext cx="10811226" cy="378301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Put data describing the experiment context in the metadata record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Information that is constant over the dataset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Context and configuration important for discovery and initial assessment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Metadata includes sufficient description of data structure to enable software to extract what is needed for analysis (CDI-DDI role)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To start, limit to files containing spectra from a single sample and experiment.</a:t>
            </a:r>
          </a:p>
        </p:txBody>
      </p:sp>
    </p:spTree>
    <p:extLst>
      <p:ext uri="{BB962C8B-B14F-4D97-AF65-F5344CB8AC3E}">
        <p14:creationId xmlns:p14="http://schemas.microsoft.com/office/powerpoint/2010/main" val="199229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3159-D52A-C26A-83C6-8F7C45B8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9274-B2C2-54E5-2E08-3BCB8B7F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58812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Context, configuration: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B70EF54-CAF1-9718-8546-1C1377E9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280161"/>
            <a:ext cx="10811226" cy="3805645"/>
          </a:xfrm>
        </p:spPr>
        <p:txBody>
          <a:bodyPr numCol="3">
            <a:normAutofit fontScale="92500" lnSpcReduction="20000"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NXxas</a:t>
            </a:r>
            <a:r>
              <a:rPr lang="en-US" sz="2800">
                <a:solidFill>
                  <a:schemeClr val="tx1"/>
                </a:solidFill>
              </a:rPr>
              <a:t> profile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source probe ('X-ray’)</a:t>
            </a:r>
          </a:p>
          <a:p>
            <a:r>
              <a:rPr lang="en-US" sz="2800" dirty="0">
                <a:solidFill>
                  <a:schemeClr val="tx1"/>
                </a:solidFill>
              </a:rPr>
              <a:t>target element symbol</a:t>
            </a:r>
          </a:p>
          <a:p>
            <a:r>
              <a:rPr lang="en-US" sz="2800" dirty="0">
                <a:solidFill>
                  <a:schemeClr val="tx1"/>
                </a:solidFill>
              </a:rPr>
              <a:t>target absorption edge</a:t>
            </a:r>
          </a:p>
          <a:p>
            <a:r>
              <a:rPr lang="en-US" sz="2800" dirty="0">
                <a:solidFill>
                  <a:schemeClr val="tx1"/>
                </a:solidFill>
              </a:rPr>
              <a:t>nominal edge energy</a:t>
            </a:r>
          </a:p>
          <a:p>
            <a:r>
              <a:rPr lang="en-US" sz="2800" dirty="0">
                <a:solidFill>
                  <a:schemeClr val="tx1"/>
                </a:solidFill>
              </a:rPr>
              <a:t>measurement mode </a:t>
            </a:r>
            <a:r>
              <a:rPr lang="en-US" sz="2000" dirty="0">
                <a:solidFill>
                  <a:schemeClr val="tx1"/>
                </a:solidFill>
              </a:rPr>
              <a:t>(e.g. 'Transmission')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name of sample</a:t>
            </a:r>
          </a:p>
          <a:p>
            <a:r>
              <a:rPr lang="en-US" sz="2800" dirty="0">
                <a:solidFill>
                  <a:schemeClr val="tx1"/>
                </a:solidFill>
              </a:rPr>
              <a:t>description of sample prep</a:t>
            </a:r>
          </a:p>
          <a:p>
            <a:r>
              <a:rPr lang="en-US" sz="2800" dirty="0">
                <a:solidFill>
                  <a:schemeClr val="tx1"/>
                </a:solidFill>
              </a:rPr>
              <a:t>name of facility</a:t>
            </a:r>
          </a:p>
          <a:p>
            <a:r>
              <a:rPr lang="en-US" sz="2800" dirty="0">
                <a:solidFill>
                  <a:schemeClr val="tx1"/>
                </a:solidFill>
              </a:rPr>
              <a:t>name of beamline</a:t>
            </a:r>
          </a:p>
          <a:p>
            <a:r>
              <a:rPr lang="en-US" sz="2800" dirty="0">
                <a:solidFill>
                  <a:schemeClr val="tx1"/>
                </a:solidFill>
              </a:rPr>
              <a:t>date and time of scan</a:t>
            </a:r>
          </a:p>
          <a:p>
            <a:r>
              <a:rPr lang="en-US" sz="2800" dirty="0">
                <a:solidFill>
                  <a:schemeClr val="tx1"/>
                </a:solidFill>
              </a:rPr>
              <a:t>string describing scan mode</a:t>
            </a:r>
          </a:p>
          <a:p>
            <a:r>
              <a:rPr lang="en-US" sz="2800" dirty="0">
                <a:solidFill>
                  <a:schemeClr val="tx1"/>
                </a:solidFill>
              </a:rPr>
              <a:t>monochromator crystal composition 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eg</a:t>
            </a:r>
            <a:r>
              <a:rPr lang="en-US" sz="2000" dirty="0">
                <a:solidFill>
                  <a:schemeClr val="tx1"/>
                </a:solidFill>
              </a:rPr>
              <a:t>, 'Si')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monochromator d-spacing</a:t>
            </a:r>
          </a:p>
          <a:p>
            <a:r>
              <a:rPr lang="en-US" sz="2800" dirty="0">
                <a:solidFill>
                  <a:schemeClr val="tx1"/>
                </a:solidFill>
              </a:rPr>
              <a:t>monochromator crystal reflection 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eg</a:t>
            </a:r>
            <a:r>
              <a:rPr lang="en-US" sz="2000" dirty="0">
                <a:solidFill>
                  <a:schemeClr val="tx1"/>
                </a:solidFill>
              </a:rPr>
              <a:t>, '1,1,1')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4693D1F-02EC-3E3B-1910-1CD86AF1E957}"/>
              </a:ext>
            </a:extLst>
          </p:cNvPr>
          <p:cNvSpPr txBox="1">
            <a:spLocks/>
          </p:cNvSpPr>
          <p:nvPr/>
        </p:nvSpPr>
        <p:spPr>
          <a:xfrm>
            <a:off x="448056" y="5550152"/>
            <a:ext cx="11301984" cy="588123"/>
          </a:xfrm>
          <a:prstGeom prst="rect">
            <a:avLst/>
          </a:prstGeom>
        </p:spPr>
        <p:txBody>
          <a:bodyPr vert="horz" wrap="square" lIns="0" tIns="0" rIns="0" bIns="0" rtlCol="0" anchor="t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i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This information goes in the CDIF metadata:</a:t>
            </a:r>
          </a:p>
        </p:txBody>
      </p:sp>
    </p:spTree>
    <p:extLst>
      <p:ext uri="{BB962C8B-B14F-4D97-AF65-F5344CB8AC3E}">
        <p14:creationId xmlns:p14="http://schemas.microsoft.com/office/powerpoint/2010/main" val="2962601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507A-11F0-FF69-DB67-7B50D3EE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0496-86C1-221E-3616-623EDF59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58812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Spectra Data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07809C-04E0-E3CD-822A-01D9A1A40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538" y="1537493"/>
            <a:ext cx="10811226" cy="378301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Maps incident energy to any of several results: transmitted intensity, fluorescent intensity, absorption coefficient…  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Can be represented in tabular form, or as a set of one dimensional arrays with the same dimension. 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A raw data array might have multiple values for each incident energy level, 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For XDI use DDI-CDI  Tabular Text structure description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</a:rPr>
              <a:t>For NEXUS use DDI-CDI  </a:t>
            </a:r>
            <a:r>
              <a:rPr lang="en-US" sz="2800">
                <a:solidFill>
                  <a:schemeClr val="tx1"/>
                </a:solidFill>
              </a:rPr>
              <a:t>Structured Data description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986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C821-3218-8DC6-65D2-03DA0AE4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BD949-B968-F477-869F-35303F384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400" y="1305709"/>
            <a:ext cx="11293200" cy="3783013"/>
          </a:xfrm>
        </p:spPr>
        <p:txBody>
          <a:bodyPr>
            <a:normAutofit/>
          </a:bodyPr>
          <a:lstStyle/>
          <a:p>
            <a:pPr marL="1944" indent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CDIF recommendations</a:t>
            </a:r>
          </a:p>
          <a:p>
            <a:pPr marL="1944" indent="0">
              <a:spcBef>
                <a:spcPts val="0"/>
              </a:spcBef>
              <a:buNone/>
            </a:pPr>
            <a:r>
              <a:rPr lang="en-US" sz="2800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https://cross-domain-interoperability-framework.github.io/cdifbook</a:t>
            </a:r>
            <a:endParaRPr lang="en-US" sz="2800" dirty="0">
              <a:solidFill>
                <a:srgbClr val="FFFF00"/>
              </a:solidFill>
            </a:endParaRPr>
          </a:p>
          <a:p>
            <a:pPr marL="1944" indent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GitHub issues: </a:t>
            </a:r>
          </a:p>
          <a:p>
            <a:pPr marL="1944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https://github.com/Cross-Domain-Interoperability-Framework/Discovery/issues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</a:p>
        </p:txBody>
      </p:sp>
      <p:pic>
        <p:nvPicPr>
          <p:cNvPr id="5" name="Picture 4" descr="A field of flowers under a cloudy sky&#10;&#10;Description automatically generated">
            <a:extLst>
              <a:ext uri="{FF2B5EF4-FFF2-40B4-BE49-F238E27FC236}">
                <a16:creationId xmlns:a16="http://schemas.microsoft.com/office/drawing/2014/main" id="{C6C3467F-C0AE-E1E5-86D4-58E419E96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597" y="4379177"/>
            <a:ext cx="8342141" cy="234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5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308632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3">
      <a:majorFont>
        <a:latin typeface="Bell MT"/>
        <a:ea typeface=""/>
        <a:cs typeface=""/>
      </a:majorFont>
      <a:minorFont>
        <a:latin typeface="Bell M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2931</TotalTime>
  <Words>508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Bell MT</vt:lpstr>
      <vt:lpstr>Calibri Light</vt:lpstr>
      <vt:lpstr>Courier New</vt:lpstr>
      <vt:lpstr>ThinLineVTI</vt:lpstr>
      <vt:lpstr>CDIF: Cross Domain Interoperability Framework</vt:lpstr>
      <vt:lpstr>CDIF Metadata</vt:lpstr>
      <vt:lpstr>Serialize using Schema.org, JSON-LD</vt:lpstr>
      <vt:lpstr>X-Ray Absorption Challenge</vt:lpstr>
      <vt:lpstr>Proposed solution:</vt:lpstr>
      <vt:lpstr>Context, configuration:</vt:lpstr>
      <vt:lpstr>Spectra Data</vt:lpstr>
      <vt:lpstr>Thanks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CDIF: Cross Domain Interoperability Framework</dc:title>
  <dc:creator>Stephen Richard</dc:creator>
  <cp:lastModifiedBy>Stephen Richard</cp:lastModifiedBy>
  <cp:revision>3</cp:revision>
  <dcterms:created xsi:type="dcterms:W3CDTF">2024-01-22T17:31:16Z</dcterms:created>
  <dcterms:modified xsi:type="dcterms:W3CDTF">2025-11-17T07:11:35Z</dcterms:modified>
</cp:coreProperties>
</file>